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66" r:id="rId19"/>
    <p:sldId id="267" r:id="rId20"/>
    <p:sldId id="268" r:id="rId21"/>
    <p:sldId id="259" r:id="rId10"/>
    <p:sldId id="269" r:id="rId22"/>
    <p:sldId id="270" r:id="rId23"/>
    <p:sldId id="260" r:id="rId11"/>
    <p:sldId id="271" r:id="rId24"/>
    <p:sldId id="272" r:id="rId25"/>
    <p:sldId id="273" r:id="rId26"/>
    <p:sldId id="261" r:id="rId12"/>
    <p:sldId id="274" r:id="rId27"/>
    <p:sldId id="275" r:id="rId28"/>
    <p:sldId id="276" r:id="rId29"/>
  </p:sldIdLst>
  <p:sldSz cy="5143500" cx="9144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font" Target="fonts/Play-regular.fntdata"/><Relationship Id="rId18" Type="http://schemas.openxmlformats.org/officeDocument/2006/relationships/font" Target="fonts/Play-bold.fntdata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a5569cbf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da5569cbf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a5569cbf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eda5569cbf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a5569cb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da5569cb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a5569cb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da5569cb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4bccb21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64bccb2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4bccb2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64bccb2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1">
  <p:cSld name="Diapositiva de títul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1143000" y="116181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5"/>
          <p:cNvSpPr/>
          <p:nvPr/>
        </p:nvSpPr>
        <p:spPr>
          <a:xfrm>
            <a:off x="4342500" y="998220"/>
            <a:ext cx="459000" cy="459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github.com/kefencho/VC-EG-GRUPO3" TargetMode="External"/><Relationship Id="rId3" Type="http://schemas.openxmlformats.org/officeDocument/2006/relationships/hyperlink" Target="https://github.com/kefencho/VC-EG-GRUPO3/blob/main/paper/main_en.pdf" TargetMode="External"/><Relationship Id="rId4" Type="http://schemas.openxmlformats.org/officeDocument/2006/relationships/hyperlink" Target="https://github.com/kefencho/VC-EG-GRUPO3/blob/main/paper/main_es.pdf" TargetMode="External"/><Relationship Id="rId5" Type="http://schemas.openxmlformats.org/officeDocument/2006/relationships/hyperlink" Target="https://github.com/kefencho/VC-EG-GRUPO3/blob/main/poster/Poster_ONPE_2026_Grupo03.pdf" TargetMode="External"/><Relationship Id="rId6" Type="http://schemas.openxmlformats.org/officeDocument/2006/relationships/hyperlink" Target="https://github.com/carlosperez100/onpe_actas" TargetMode="External"/><Relationship Id="rId7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/>
        </p:nvSpPr>
        <p:spPr>
          <a:xfrm>
            <a:off x="1075200" y="1418275"/>
            <a:ext cx="69339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700">
                <a:solidFill>
                  <a:schemeClr val="dk1"/>
                </a:solidFill>
              </a:rPr>
              <a:t>Extracción automática de resultados electorales a partir de actas de escrutinio de las Elecciones Generales del Perú 2026</a:t>
            </a:r>
            <a:endParaRPr sz="2700">
              <a:solidFill>
                <a:schemeClr val="dk1"/>
              </a:solidFill>
            </a:endParaRPr>
          </a:p>
        </p:txBody>
      </p:sp>
      <p:cxnSp>
        <p:nvCxnSpPr>
          <p:cNvPr id="104" name="Google Shape;104;p27"/>
          <p:cNvCxnSpPr/>
          <p:nvPr/>
        </p:nvCxnSpPr>
        <p:spPr>
          <a:xfrm>
            <a:off x="361950" y="4776104"/>
            <a:ext cx="8360400" cy="0"/>
          </a:xfrm>
          <a:prstGeom prst="straightConnector1">
            <a:avLst/>
          </a:prstGeom>
          <a:noFill/>
          <a:ln cap="flat" cmpd="sng" w="21425">
            <a:solidFill>
              <a:srgbClr val="FFFFF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5" name="Google Shape;105;p27"/>
          <p:cNvSpPr txBox="1"/>
          <p:nvPr/>
        </p:nvSpPr>
        <p:spPr>
          <a:xfrm>
            <a:off x="1979618" y="524246"/>
            <a:ext cx="5081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s-419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Maestría de Inteligencia Artificial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/>
        </p:nvSpPr>
        <p:spPr>
          <a:xfrm>
            <a:off x="1764248" y="925200"/>
            <a:ext cx="537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Visión por Computadora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7"/>
          <p:cNvSpPr txBox="1"/>
          <p:nvPr/>
        </p:nvSpPr>
        <p:spPr>
          <a:xfrm>
            <a:off x="3480100" y="3906509"/>
            <a:ext cx="1940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3</a:t>
            </a:r>
            <a:b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Sección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2026 - 1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Picture 107" descr="logo_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00" y="300000"/>
            <a:ext cx="640000" cy="6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/>
        </p:nvSpPr>
        <p:spPr>
          <a:xfrm>
            <a:off x="156210" y="159544"/>
            <a:ext cx="8812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Font typeface="Calibri"/>
              <a:buNone/>
            </a:pPr>
            <a:r>
              <a:rPr b="1" i="0" lang="es-419" sz="27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8"/>
          <p:cNvSpPr txBox="1"/>
          <p:nvPr/>
        </p:nvSpPr>
        <p:spPr>
          <a:xfrm>
            <a:off x="156210" y="751999"/>
            <a:ext cx="8812500" cy="4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Josemanuel Rossy Cañari Palante, </a:t>
            </a:r>
            <a:r>
              <a:rPr b="0" i="0" lang="es-419" sz="1800" cap="none" strike="noStrike">
                <a:latin typeface="Arial"/>
                <a:ea typeface="Arial"/>
                <a:cs typeface="Arial"/>
                <a:sym typeface="Arial"/>
              </a:rPr>
              <a:t>jose.canari@outlook.com.pe</a:t>
            </a:r>
            <a:r>
              <a:rPr lang="es-419" sz="1100"/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Kenny Asto Hinostroza, </a:t>
            </a:r>
            <a:r>
              <a:rPr b="0" i="0" lang="es-419" sz="1800" cap="none" strike="noStrike">
                <a:latin typeface="Arial"/>
                <a:ea typeface="Arial"/>
                <a:cs typeface="Arial"/>
                <a:sym typeface="Arial"/>
              </a:rPr>
              <a:t>kenny.asto.hinostroza@gmail.com</a:t>
            </a:r>
            <a:r>
              <a:rPr lang="es-419" sz="1800"/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-419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Melissa Dessire Aylas Barranca, </a:t>
            </a:r>
            <a:r>
              <a:rPr b="0" i="0" lang="es-419" sz="1800" cap="none" strike="noStrike">
                <a:latin typeface="Arial"/>
                <a:ea typeface="Arial"/>
                <a:cs typeface="Arial"/>
                <a:sym typeface="Arial"/>
              </a:rPr>
              <a:t>melissa.aylas@gmail.com</a:t>
            </a:r>
            <a:r>
              <a:rPr lang="es-419" sz="1800"/>
              <a:t>.</a:t>
            </a:r>
            <a:br>
              <a:rPr b="0" i="0" lang="es-419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/>
          </a:p>
          <a:p>
            <a:pPr indent="-2794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419" sz="1800">
                <a:solidFill>
                  <a:schemeClr val="dk1"/>
                </a:solidFill>
              </a:rPr>
              <a:t>Carlos Pérez Pérez, carlosperez100@gmail.com.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15375" y="4180000"/>
            <a:ext cx="8513250" cy="7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Universidad Nacional de Ingeniería — Maestría en Inteligencia Artificial</a:t>
            </a:r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Curso: Visión por Computador — Docente: Elian Raquel Laura Riveros</a:t>
            </a:r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Grupo 3, Sección B — 2026-1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Font typeface="Calibri"/>
              <a:buNone/>
            </a:pPr>
            <a:r>
              <a:rPr b="1" lang="es-419" sz="2400" i="0">
                <a:solidFill>
                  <a:srgbClr val="00B050"/>
                </a:solidFill>
                <a:latin typeface="Arial"/>
              </a:rPr>
              <a:t>Introducción</a:t>
            </a:r>
            <a:endParaRPr b="1" i="0" sz="27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15375" y="830000"/>
            <a:ext cx="8513250" cy="2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La ONPE publica los resultados oficiales en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actas de escrutinio</a:t>
            </a:r>
            <a:r>
              <a:rPr sz="1350" b="0" i="0">
                <a:solidFill>
                  <a:srgbClr val="262626"/>
                </a:solidFill>
                <a:latin typeface="Arial"/>
              </a:rPr>
              <a:t>; buena parte son formularios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escaneados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en los que los miembros de mesa escribieron los votos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a mano</a:t>
            </a:r>
            <a:r>
              <a:rPr sz="1350" b="0" i="0">
                <a:solidFill>
                  <a:srgbClr val="262626"/>
                </a:solidFill>
                <a:latin typeface="Arial"/>
              </a:rPr>
              <a:t>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Revisarlas manualmente es lento, propenso a error y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no es viable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para las ≈88,064 mesas de una elección general: limita la auditoría automática y la verificación independiente.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Pregunta de investigación: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¿qué exactitud alcanza un sistema tradicional de visión por computador al extraer resultados de actas peruanas seleccionadas a escala nacional, y qué implica ello para un sistema de uso real?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Objetivo: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construir y evaluar un proceso reproducible de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cinco etapas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sobre las actas de la primera vuelta de las Elecciones Generales 2026 (12 de abril de 2026).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15375" y="3400000"/>
            <a:ext cx="1993312" cy="9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≈88,064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mesas del universo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488687" y="3400000"/>
            <a:ext cx="1993312" cy="9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100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actas de la muestra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661999" y="3400000"/>
            <a:ext cx="1993312" cy="9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23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departamentos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835311" y="3400000"/>
            <a:ext cx="1993312" cy="9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0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etiquetas manuales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Font typeface="Calibri"/>
              <a:buNone/>
            </a:pPr>
            <a:r>
              <a:rPr b="1" lang="es-419" sz="2400" i="0">
                <a:solidFill>
                  <a:srgbClr val="00B050"/>
                </a:solidFill>
                <a:latin typeface="Arial"/>
              </a:rPr>
              <a:t>Pipeline</a:t>
            </a:r>
            <a:endParaRPr b="1" i="0" sz="27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Connector 123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15375" y="760000"/>
            <a:ext cx="8513250" cy="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Arial"/>
              </a:rPr>
              <a:t>Cinco etapas, cada una medible por separado: la salida de cada etapa se puede auditar.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15375" y="1450000"/>
            <a:ext cx="1582650" cy="17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Descarga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262626"/>
                </a:solidFill>
                <a:latin typeface="Arial"/>
              </a:rPr>
              <a:t>PDF del acta y
valores oficiales
de la ONPE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1916025" y="2150000"/>
            <a:ext cx="114000" cy="2400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048025" y="1450000"/>
            <a:ext cx="1582650" cy="17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Preparación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262626"/>
                </a:solidFill>
                <a:latin typeface="Arial"/>
              </a:rPr>
              <a:t>300 ppp, corrección
de inclinación,
contraste y ruido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3648675" y="2150000"/>
            <a:ext cx="114000" cy="2400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780675" y="1450000"/>
            <a:ext cx="1582650" cy="17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Alineación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262626"/>
                </a:solidFill>
                <a:latin typeface="Arial"/>
              </a:rPr>
              <a:t>15 marcas de
referencia +
plantilla de 46 regiones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5381325" y="2150000"/>
            <a:ext cx="114000" cy="2400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513325" y="1450000"/>
            <a:ext cx="1582650" cy="17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Lectura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262626"/>
                </a:solidFill>
                <a:latin typeface="Arial"/>
              </a:rPr>
              <a:t>OCR limitado a
dígitos, celda a celda
+ limpieza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7113975" y="2150000"/>
            <a:ext cx="114000" cy="240000"/>
          </a:xfrm>
          <a:prstGeom prst="rightArrow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245975" y="1450000"/>
            <a:ext cx="1582650" cy="17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B050"/>
                </a:solidFill>
                <a:latin typeface="Arial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Salida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262626"/>
                </a:solidFill>
                <a:latin typeface="Arial"/>
              </a:rPr>
              <a:t>Registro estructurado
(JSON) por acta
y por campo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5375" y="3450000"/>
            <a:ext cx="8513250" cy="1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La etapa 3 usa una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plantilla de 46 regiones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(38 celdas de votos, 4 filas de resumen y 4 campos de encabezado) guardada como proporciones de la página.</a:t>
            </a:r>
          </a:p>
          <a:p>
            <a:pPr marL="220000" indent="-220000">
              <a:lnSpc>
                <a:spcPct val="11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Las actas digitales STAE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no pasan por visión</a:t>
            </a:r>
            <a:r>
              <a:rPr sz="1250" b="0" i="0">
                <a:solidFill>
                  <a:srgbClr val="262626"/>
                </a:solidFill>
                <a:latin typeface="Arial"/>
              </a:rPr>
              <a:t>: sus conteos se extraen de la capa de texto del PDF y se asocian a nombres de partido normalizados.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Font typeface="Calibri"/>
              <a:buNone/>
            </a:pPr>
            <a:r>
              <a:rPr b="1" lang="es-419" sz="2400" i="0">
                <a:solidFill>
                  <a:srgbClr val="00B050"/>
                </a:solidFill>
                <a:latin typeface="Arial"/>
              </a:rPr>
              <a:t>Experimentación</a:t>
            </a:r>
            <a:endParaRPr b="1" i="0" sz="27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Connector 128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5375" y="830000"/>
            <a:ext cx="8513250" cy="24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Exactitud por campo: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porcentaje de campos cuyo valor leído coincide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exactamente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con el valor oficial digitado por la ONPE.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CER (Character Error Rate):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tasa de error por carácter entre la cadena de dígitos leída y la correcta; un valor menor indica menos errores.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Dependencia intradocumento: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los campos de una misma acta comparten calidad de escaneo y caligrafía, por lo que los IC 95 % se calculan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remuestreando actas completas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(bootstrap agrupado, 10,000 repeticiones).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Dos evaluaciones: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(a) piloto de 10 actas consecutivas de un distrito, que no representa al país pero mide el aporte de cada mejora; y (b)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muestra aleatoria nacional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de 76 actas manuscritas.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15375" y="3450000"/>
            <a:ext cx="8513250" cy="80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/>
            <a:r>
              <a:rPr sz="1200" b="0" i="1">
                <a:solidFill>
                  <a:srgbClr val="595959"/>
                </a:solidFill>
                <a:latin typeface="Arial"/>
              </a:rPr>
              <a:t>Reproducibilidad: semilla de muestreo publicada, resultados por campo y por acta versionados en el repositorio, y ejecución completa con un solo archivo por lotes.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Font typeface="Calibri"/>
              <a:buNone/>
            </a:pPr>
            <a:r>
              <a:rPr b="1" lang="es-419" sz="2400" i="0">
                <a:solidFill>
                  <a:srgbClr val="00B050"/>
                </a:solidFill>
                <a:latin typeface="Arial"/>
              </a:rPr>
              <a:t>Resultados y conclusiones</a:t>
            </a:r>
            <a:endParaRPr b="1" i="0" sz="27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Connector 133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315375" y="900000"/>
            <a:ext cx="2704416" cy="10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59.58 %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actas manuscritas
IC 95 % [56.61 – 62.48]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219791" y="900000"/>
            <a:ext cx="2704416" cy="10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95.12 %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actas digitales STAE
955 de 1,004 campos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124207" y="900000"/>
            <a:ext cx="2704416" cy="10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007033"/>
                </a:solidFill>
                <a:latin typeface="Arial"/>
              </a:rPr>
              <a:t>35.5 pp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brecha entre ambas rutas
→ hay que enrutar por tipo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15375" y="2100000"/>
            <a:ext cx="8513250" cy="27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10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Resultado principal.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59.58 % de exactitud por campo y CER 0.401 en la muestra aleatoria nacional de actas manuscritas, con intervalos por bootstrap agrupado por acta.</a:t>
            </a:r>
          </a:p>
          <a:p>
            <a:pPr marL="220000" indent="-220000">
              <a:lnSpc>
                <a:spcPct val="115000"/>
              </a:lnSpc>
              <a:spcAft>
                <a:spcPts val="10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Actas digitales.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La extracción de la capa de texto alcanza 95.12 %; los errores restantes vienen de asociar nombres de partido, no de leer números.</a:t>
            </a:r>
          </a:p>
          <a:p>
            <a:pPr marL="220000" indent="-220000">
              <a:lnSpc>
                <a:spcPct val="115000"/>
              </a:lnSpc>
              <a:spcAft>
                <a:spcPts val="10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Errores del OCR.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Se concentran en cuatro situaciones: dígitos delgados no detectados; trazos que invaden las zonas donde se borran los separadores; confusiones de forma (8/18, 7/9); y campos con varias casillas. Son errores de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reconocimiento</a:t>
            </a:r>
            <a:r>
              <a:rPr sz="1300" b="0" i="0">
                <a:solidFill>
                  <a:srgbClr val="262626"/>
                </a:solidFill>
                <a:latin typeface="Arial"/>
              </a:rPr>
              <a:t>, no de ubicación de campos.</a:t>
            </a:r>
          </a:p>
          <a:p>
            <a:pPr marL="220000" indent="-220000">
              <a:lnSpc>
                <a:spcPct val="115000"/>
              </a:lnSpc>
              <a:spcAft>
                <a:spcPts val="10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Alcance.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El nivel alcanzado en manuscritas exige validación humana: el sistema es una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línea base especializada y auditable</a:t>
            </a:r>
            <a:r>
              <a:rPr sz="1300" b="0" i="0">
                <a:solidFill>
                  <a:srgbClr val="262626"/>
                </a:solidFill>
                <a:latin typeface="Arial"/>
              </a:rPr>
              <a:t>, no una automatización electoral autónoma.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Contribuciones del trabajo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15375" y="830000"/>
            <a:ext cx="8513250" cy="40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1. Evaluación reproducible sin etiquetado manual.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El portal publica la imagen del acta y los conteos digitados oficialmente: ~43 pares campo–valor verificados por acta, con muestreo aleatorio nacional de semilla pública.</a:t>
            </a:r>
          </a:p>
          <a:p>
            <a:pPr marL="220000" indent="-220000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2. Plantilla alineada con las marcas impresas del formulario.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Los cuadrados negros del borde corrigen desplazamientos y deformaciones del escaneo: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+8.7 puntos porcentuales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frente a coordenadas fijas.</a:t>
            </a:r>
          </a:p>
          <a:p>
            <a:pPr marL="220000" indent="-220000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3. Identificación de dos tipos de acta.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24 % son actas digitales STAE con capa de texto (95.1 % de exactitud) y 76 % son manuscritas escaneadas: un sistema real debe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enrutar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según el tipo de documento.</a:t>
            </a:r>
          </a:p>
          <a:p>
            <a:pPr marL="220000" indent="-220000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4. Medida clara del techo del OCR general.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En actas manuscritas, el OCR limitado a dígitos alcanzó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59.6 %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de exactitud por campo, lo que sustenta entrenar un modelo especializado.</a:t>
            </a:r>
          </a:p>
          <a:p>
            <a:pPr marL="220000" indent="-220000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5. Comparación con un modelo multimodal.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Con las mismas actas y métricas, el LLM obtuvo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48.4 %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frente a </a:t>
            </a:r>
            <a:r>
              <a:rPr sz="1350" b="1" i="0">
                <a:solidFill>
                  <a:srgbClr val="007033"/>
                </a:solidFill>
                <a:latin typeface="Arial"/>
              </a:rPr>
              <a:t>60.9 %</a:t>
            </a:r>
            <a:r>
              <a:rPr sz="1350" b="0" i="0">
                <a:solidFill>
                  <a:srgbClr val="262626"/>
                </a:solidFill>
                <a:latin typeface="Arial"/>
              </a:rPr>
              <a:t> del sistema por etapas.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Trabajos relacionados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15375" y="900000"/>
            <a:ext cx="2704416" cy="2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7033"/>
                </a:solidFill>
                <a:latin typeface="Arial"/>
              </a:rPr>
              <a:t>Detección de objetos</a:t>
            </a:r>
          </a:p>
          <a:p>
            <a:pPr>
              <a:lnSpc>
                <a:spcPct val="110000"/>
              </a:lnSpc>
            </a:pPr>
            <a:r>
              <a:rPr sz="1150" b="1" i="0">
                <a:solidFill>
                  <a:srgbClr val="007033"/>
                </a:solidFill>
                <a:latin typeface="Arial"/>
              </a:rPr>
              <a:t>RT-DETR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(CVPR 2024) detecta en tiempo real sin NMS y supera a YOLO de tamaño similar. En actas, las casillas están juntas y cubiertas por sellos o firmas. Aquí la localización se resuelve con plantilla; la plantilla puede </a:t>
            </a:r>
            <a:r>
              <a:rPr sz="1150" b="1" i="0">
                <a:solidFill>
                  <a:srgbClr val="007033"/>
                </a:solidFill>
                <a:latin typeface="Arial"/>
              </a:rPr>
              <a:t>autogenerar etiquetas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para YOLOv11 o RT-DETR.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9791" y="900000"/>
            <a:ext cx="2704416" cy="2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7033"/>
                </a:solidFill>
                <a:latin typeface="Arial"/>
              </a:rPr>
              <a:t>Reconocimiento de texto</a:t>
            </a:r>
          </a:p>
          <a:p>
            <a:pPr>
              <a:lnSpc>
                <a:spcPct val="110000"/>
              </a:lnSpc>
            </a:pPr>
            <a:r>
              <a:rPr sz="1150" b="1" i="0">
                <a:solidFill>
                  <a:srgbClr val="007033"/>
                </a:solidFill>
                <a:latin typeface="Arial"/>
              </a:rPr>
              <a:t>TrOCR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(AAAI 2023) y </a:t>
            </a:r>
            <a:r>
              <a:rPr sz="1150" b="1" i="0">
                <a:solidFill>
                  <a:srgbClr val="007033"/>
                </a:solidFill>
                <a:latin typeface="Arial"/>
              </a:rPr>
              <a:t>DTrOCR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(WACV 2024) usan transformers para OCR impreso, de escena y manuscrito. Respaldan un reconocedor especializado, pero debe evitarse que el modelo de lenguaje “corrija” un número: cada valor es un </a:t>
            </a:r>
            <a:r>
              <a:rPr sz="1150" b="1" i="0">
                <a:solidFill>
                  <a:srgbClr val="007033"/>
                </a:solidFill>
                <a:latin typeface="Arial"/>
              </a:rPr>
              <a:t>conteo electoral</a:t>
            </a:r>
            <a:r>
              <a:rPr sz="1150" b="0" i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4207" y="900000"/>
            <a:ext cx="2704416" cy="25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7033"/>
                </a:solidFill>
                <a:latin typeface="Arial"/>
              </a:rPr>
              <a:t>Análisis integral del documento</a:t>
            </a:r>
          </a:p>
          <a:p>
            <a:pPr>
              <a:lnSpc>
                <a:spcPct val="110000"/>
              </a:lnSpc>
            </a:pPr>
            <a:r>
              <a:rPr sz="1150" b="1" i="0">
                <a:solidFill>
                  <a:srgbClr val="007033"/>
                </a:solidFill>
                <a:latin typeface="Arial"/>
              </a:rPr>
              <a:t>OmniParser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(CVPR 2024) y </a:t>
            </a:r>
            <a:r>
              <a:rPr sz="1150" b="1" i="0">
                <a:solidFill>
                  <a:srgbClr val="007033"/>
                </a:solidFill>
                <a:latin typeface="Arial"/>
              </a:rPr>
              <a:t>Donut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(ECCV 2022) resuelven texto, tablas e información clave en un solo paso. Con tablas extensas el desempeño cae, por eso se conserva un </a:t>
            </a:r>
            <a:r>
              <a:rPr sz="1150" b="1" i="0">
                <a:solidFill>
                  <a:srgbClr val="007033"/>
                </a:solidFill>
                <a:latin typeface="Arial"/>
              </a:rPr>
              <a:t>proceso por etapas</a:t>
            </a:r>
            <a:r>
              <a:rPr sz="1150" b="0" i="0">
                <a:solidFill>
                  <a:srgbClr val="262626"/>
                </a:solidFill>
                <a:latin typeface="Arial"/>
              </a:rPr>
              <a:t>, medible y auditable en cada parte.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375" y="3600000"/>
            <a:ext cx="8513250" cy="7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/>
            <a:r>
              <a:rPr sz="1300" b="1" i="0">
                <a:solidFill>
                  <a:srgbClr val="007033"/>
                </a:solidFill>
                <a:latin typeface="Arial"/>
              </a:rPr>
              <a:t>Brecha que cubre el trabajo: 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ningún trabajo evalúa dígitos manuscritos en actas electorales peruanas con sellos y firmas.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Conjunto de datos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15375" y="830000"/>
            <a:ext cx="8513250" cy="25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Fuente.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Portal oficial de resultados de la ONPE, primera vuelta de las EG 2026 (12-abr-2026). El acta de escrutinio se descarga en PDF desde una dirección temporal; la descarga es reanudable y a velocidad moderada.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Muestra.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Aleatoria simple sin reemplazo,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semilla pública 2026</a:t>
            </a:r>
            <a:r>
              <a:rPr sz="1300" b="0" i="0">
                <a:solidFill>
                  <a:srgbClr val="262626"/>
                </a:solidFill>
                <a:latin typeface="Arial"/>
              </a:rPr>
              <a:t>: 100 actas de un universo de ≈88,064 mesas, en 23 departamentos (Lima 36 %). Evita el sesgo de tomar mesas consecutivas de un solo distrito.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Dos tipos de documento.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76 actas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manuscritas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escaneadas (1 página, sin capa de texto) y 24 actas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digitales STAE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(2 páginas, firma digital y tipografía digital) — 24 % con IC 95 % de Wilson [16.7 %, 33.2 %].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Valores de referencia.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Conteos digitados y publicados por la ONPE. Las posiciones 04 y 14 corresponden a partidos retirados y se excluyen: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43 campos evaluables por acta = 3,268 campos</a:t>
            </a:r>
            <a:r>
              <a:rPr sz="1300" b="0" i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375" y="3550000"/>
            <a:ext cx="2704416" cy="8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033"/>
                </a:solidFill>
                <a:latin typeface="Arial"/>
              </a:rPr>
              <a:t>76 / 24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manuscritas / digitales STAE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9791" y="3550000"/>
            <a:ext cx="2704416" cy="8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033"/>
                </a:solidFill>
                <a:latin typeface="Arial"/>
              </a:rPr>
              <a:t>3,268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campos evaluados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4207" y="3550000"/>
            <a:ext cx="2704416" cy="8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033"/>
                </a:solidFill>
                <a:latin typeface="Arial"/>
              </a:rPr>
              <a:t>43</a:t>
            </a:r>
          </a:p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campos por acta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Etapa 3 · Localización de campos con plantilla y marcas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lantilla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5" y="830000"/>
            <a:ext cx="2828521" cy="4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3895" y="830000"/>
            <a:ext cx="5384730" cy="40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El acta tiene un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formato fijo</a:t>
            </a:r>
            <a:r>
              <a:rPr sz="1250" b="0" i="0">
                <a:solidFill>
                  <a:srgbClr val="262626"/>
                </a:solidFill>
                <a:latin typeface="Arial"/>
              </a:rPr>
              <a:t>: se definieron una sola vez 46 regiones sobre un acta de referencia y se guardaron como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proporciones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del ancho y alto de la página.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Las coordenadas fijas fallan cuando hay márgenes negros, desplazamientos o deformaciones del escáner: una celda llega a recortarse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sobre la fila equivocada</a:t>
            </a:r>
            <a:r>
              <a:rPr sz="1250" b="0" i="0">
                <a:solidFill>
                  <a:srgbClr val="262626"/>
                </a:solidFill>
                <a:latin typeface="Arial"/>
              </a:rPr>
              <a:t>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Solución: detectar los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cuadrados negros impresos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del borde, compararlos con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15 posiciones conocidas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, estimar el desplazamiento más consistente (ignorando marcas ausentes o falsas detecciones) y corregir la página antes de recortar.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Efecto medido: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+8.7 puntos porcentuales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de exactitud; la peor acta pasó de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14 % a 30 %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y su CER dejó de superar 1.0.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75" y="4830000"/>
            <a:ext cx="8513250" cy="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000" b="0" i="1">
                <a:solidFill>
                  <a:srgbClr val="595959"/>
                </a:solidFill>
                <a:latin typeface="Arial"/>
              </a:rPr>
              <a:t>En azul: 38 celdas de votos.  En rojo: encabezado y resumen.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Etapa 4 · Reconocimiento de los conteos manuscritos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impieza_cel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557" y="830000"/>
            <a:ext cx="1499069" cy="34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375" y="830000"/>
            <a:ext cx="6764182" cy="345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EasyOCR restringido a dígitos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, celda por celda; las mejoras salieron de un análisis de errores sobre 10 actas de prueba.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Se elimina un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margen interno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para que el borde impreso no se lea como dígito.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Binarización con umbral calculado por celda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para resaltar la tinta manuscrita.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Se borran los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separadores punteados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en posiciones conocidas y las manchas del escaneo.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Los campos con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una casilla por dígito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se leen casilla por casilla; si la limpieza borra trazos tenues, se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reintenta con el recorte original</a:t>
            </a:r>
            <a:r>
              <a:rPr sz="1250" b="0" i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375" y="4300000"/>
            <a:ext cx="6764182" cy="62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/>
            <a:r>
              <a:rPr sz="1200" b="1" i="0">
                <a:solidFill>
                  <a:srgbClr val="007033"/>
                </a:solidFill>
                <a:latin typeface="Arial"/>
              </a:rPr>
              <a:t>Regla de dominio “celda vacía = 0”: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la celda en blanco significa cero votos, no un fallo de OCR. Se informa por separado del rendimiento visual.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9557" y="4320000"/>
            <a:ext cx="1499068" cy="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000" b="0" i="1">
                <a:solidFill>
                  <a:srgbClr val="595959"/>
                </a:solidFill>
                <a:latin typeface="Arial"/>
              </a:rPr>
              <a:t>Arriba: recorte original.
Abajo: recorte procesado.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Piloto de 10 actas · efecto acumulado de cada mejora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5375" y="900000"/>
          <a:ext cx="8513250" cy="17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07950"/>
                <a:gridCol w="1702650"/>
                <a:gridCol w="170265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Configuración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Exactitud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CER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v1: OCR de dígitos sin limpieza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43.95 %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0.524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v2: + limpieza de tinta, bordes y casillas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52.09 %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0.419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v3: + eliminación de separadores y manchas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52.79 %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0.476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v4: + regla de celda vacía = cero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58.37 %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0.420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5375" y="2750000"/>
            <a:ext cx="8513250" cy="19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El piloto usó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mesas consecutivas de un solo distrito</a:t>
            </a:r>
            <a:r>
              <a:rPr sz="1250" b="0" i="0">
                <a:solidFill>
                  <a:srgbClr val="262626"/>
                </a:solidFill>
                <a:latin typeface="Arial"/>
              </a:rPr>
              <a:t>: sirve para aislar el aporte de cada mejora, no para representar al país.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La limpieza de tinta, bordes y casillas es la mejora individual más fuerte del reconocimiento (</a:t>
            </a:r>
            <a:r>
              <a:rPr sz="1250" b="1" i="0">
                <a:solidFill>
                  <a:srgbClr val="007033"/>
                </a:solidFill>
                <a:latin typeface="Arial"/>
              </a:rPr>
              <a:t>+8.1 pp</a:t>
            </a:r>
            <a:r>
              <a:rPr sz="1250" b="0" i="0">
                <a:solidFill>
                  <a:srgbClr val="262626"/>
                </a:solidFill>
                <a:latin typeface="Arial"/>
              </a:rPr>
              <a:t>); la eliminación de separadores sube la exactitud pero deja el CER casi igual, porque corrige errores de dígito extra a costa de algún trazo tenue.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La regla de dominio “celda vacía = 0” aporta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+5.6 pp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en este piloto y mucho más en la muestra nacional, donde las celdas en blanco son más frecuentes.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Evaluación nacional · 76 actas manuscritas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5375" y="880000"/>
          <a:ext cx="8513250" cy="16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07950"/>
                <a:gridCol w="1702650"/>
                <a:gridCol w="1702650"/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Configuración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Exactitud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CER</a:t>
                      </a:r>
                    </a:p>
                  </a:txBody>
                  <a:tcPr marL="68575" marR="68575" marT="22850" marB="22850" anchor="ctr">
                    <a:solidFill>
                      <a:srgbClr val="00B05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Plantilla fija, OCR sin limpieza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26.81 %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0.724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Plantilla fija + regla de cero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50.86 %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0.482</a:t>
                      </a:r>
                    </a:p>
                  </a:txBody>
                  <a:tcPr marL="68575" marR="68575" marT="22850" marB="22850" anchor="ctr">
                    <a:solidFill>
                      <a:srgbClr val="F2F2F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Plantilla alineada, OCR sin limpieza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38.00 %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0.617</a:t>
                      </a:r>
                    </a:p>
                  </a:txBody>
                  <a:tcPr marL="68575" marR="68575" marT="22850" marB="2285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Plantilla alineada + regla de cero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59.58 %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0.401</a:t>
                      </a:r>
                    </a:p>
                  </a:txBody>
                  <a:tcPr marL="68575" marR="68575" marT="22850" marB="22850" anchor="ctr">
                    <a:solidFill>
                      <a:srgbClr val="E9F7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15375" y="2700000"/>
            <a:ext cx="2000812" cy="10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033"/>
                </a:solidFill>
                <a:latin typeface="Arial"/>
              </a:rPr>
              <a:t>59.58 %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exactitud por campo
IC 95 % [56.61 – 62.48]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6187" y="2700000"/>
            <a:ext cx="2000812" cy="10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033"/>
                </a:solidFill>
                <a:latin typeface="Arial"/>
              </a:rPr>
              <a:t>0.401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CER
IC 95 % [0.360 – 0.444]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6999" y="2700000"/>
            <a:ext cx="2000812" cy="10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033"/>
                </a:solidFill>
                <a:latin typeface="Arial"/>
              </a:rPr>
              <a:t>+8.7 pp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aporte de la alineación
por marcas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27811" y="2700000"/>
            <a:ext cx="2000812" cy="100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033"/>
                </a:solidFill>
                <a:latin typeface="Arial"/>
              </a:rPr>
              <a:t>+21.6 pp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Arial"/>
              </a:rPr>
              <a:t>aporte de la regla
“vacío = 0”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375" y="3830000"/>
            <a:ext cx="8513250" cy="9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Exactitud media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por acta</a:t>
            </a:r>
            <a:r>
              <a:rPr sz="1250" b="0" i="0">
                <a:solidFill>
                  <a:srgbClr val="262626"/>
                </a:solidFill>
                <a:latin typeface="Arial"/>
              </a:rPr>
              <a:t>: 59.6 % (desviación estándar 13.0 pp; rango 30 % – 84 %). La variabilidad restante se explica por la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caligrafía y la calidad del escaneo</a:t>
            </a:r>
            <a:r>
              <a:rPr sz="1250" b="0" i="0">
                <a:solidFill>
                  <a:srgbClr val="262626"/>
                </a:solidFill>
                <a:latin typeface="Arial"/>
              </a:rPr>
              <a:t>, no por la ubicación de los campos.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Comparación controlada con un modelo multimodal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15375" y="760000"/>
            <a:ext cx="8513250" cy="3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Arial"/>
              </a:rPr>
              <a:t>Mismas 15 actas manuscritas, misma métrica. El LLM recibe la página completa y dos ejemplos resueltos; sin plantilla, sin alineación y sin OCR.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375" y="1230000"/>
            <a:ext cx="4400000" cy="35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200" b="1" i="0">
                <a:solidFill>
                  <a:srgbClr val="262626"/>
                </a:solidFill>
                <a:latin typeface="Arial"/>
              </a:rPr>
              <a:t>Sistema por etapas (plantilla alineada + OCR)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375" y="1600000"/>
            <a:ext cx="3168360" cy="380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3735" y="1570000"/>
            <a:ext cx="2500000" cy="4000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1500" b="1" i="0">
                <a:solidFill>
                  <a:srgbClr val="00B050"/>
                </a:solidFill>
                <a:latin typeface="Arial"/>
              </a:rPr>
              <a:t>60.93 %</a:t>
            </a:r>
            <a:r>
              <a:rPr sz="1150" b="0" i="0">
                <a:solidFill>
                  <a:srgbClr val="595959"/>
                </a:solidFill>
                <a:latin typeface="Arial"/>
              </a:rPr>
              <a:t>   ·   CER 0.395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375" y="2130000"/>
            <a:ext cx="4400000" cy="35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r>
              <a:rPr sz="1200" b="1" i="0">
                <a:solidFill>
                  <a:srgbClr val="262626"/>
                </a:solidFill>
                <a:latin typeface="Arial"/>
              </a:rPr>
              <a:t>LLM multimodal con dos ejemplos (Gemini 2.5 Flash)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375" y="2500000"/>
            <a:ext cx="2515240" cy="38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0615" y="2470000"/>
            <a:ext cx="2500000" cy="4000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1500" b="1" i="0">
                <a:solidFill>
                  <a:srgbClr val="595959"/>
                </a:solidFill>
                <a:latin typeface="Arial"/>
              </a:rPr>
              <a:t>48.37 %</a:t>
            </a:r>
            <a:r>
              <a:rPr sz="1150" b="0" i="0">
                <a:solidFill>
                  <a:srgbClr val="595959"/>
                </a:solidFill>
                <a:latin typeface="Arial"/>
              </a:rPr>
              <a:t>   ·   CER 0.591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375" y="3250000"/>
            <a:ext cx="8513250" cy="15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El sistema por etapas superó al modelo multimodal en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12.6 puntos porcentuales</a:t>
            </a:r>
            <a:r>
              <a:rPr sz="1250" b="0" i="0">
                <a:solidFill>
                  <a:srgbClr val="262626"/>
                </a:solidFill>
                <a:latin typeface="Arial"/>
              </a:rPr>
              <a:t>. El LLM reconoció bien la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estructura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del formulario, pero falló al leer dígitos manuscritos en escaneos de baja calidad.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En las dos peores actas obtuvo 20.9 % y 23.3 %, frente a 34.9 % y 53.5 % del sistema por etapas: el OCR recibe la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celda ya aislada</a:t>
            </a:r>
            <a:r>
              <a:rPr sz="1250" b="0" i="0">
                <a:solidFill>
                  <a:srgbClr val="262626"/>
                </a:solidFill>
                <a:latin typeface="Arial"/>
              </a:rPr>
              <a:t>, mientras el LLM debe interpretar toda la página y su ruido visual.</a:t>
            </a:r>
          </a:p>
          <a:p>
            <a:pPr marL="220000" indent="-220000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Arial"/>
              </a:rPr>
              <a:t>▪  Uso recomendado del LLM: </a:t>
            </a:r>
            <a:r>
              <a:rPr sz="1250" b="1" i="0">
                <a:solidFill>
                  <a:srgbClr val="007033"/>
                </a:solidFill>
                <a:latin typeface="Arial"/>
              </a:rPr>
              <a:t>pre-etiquetador</a:t>
            </a:r>
            <a:r>
              <a:rPr sz="1250" b="0" i="0">
                <a:solidFill>
                  <a:srgbClr val="262626"/>
                </a:solidFill>
                <a:latin typeface="Arial"/>
              </a:rPr>
              <a:t> para arrancar en un formato nuevo, no sustituto de un reconocedor especializado.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Conclusiones y trabajo futuro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15375" y="850000"/>
            <a:ext cx="8513250" cy="235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1.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Antes de recortar campos con una plantilla hay que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alinear el documento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con sus marcas impresas de referencia (+8.7 pp).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2.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La regla “celda vacía = 0” es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conocimiento del formulario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y debe informarse separada del rendimiento estrictamente visual (+21.6 pp).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3.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Conviene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identificar el tipo de acta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(manuscrita o digital) antes de elegir el método: 59.6 % frente a 95.1 %.</a:t>
            </a:r>
          </a:p>
          <a:p>
            <a:pPr marL="220000" indent="-220000">
              <a:lnSpc>
                <a:spcPct val="115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▪ 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4.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Un modelo multimodal general requiere menos preparación, pero obtuvo </a:t>
            </a:r>
            <a:r>
              <a:rPr sz="1300" b="1" i="0">
                <a:solidFill>
                  <a:srgbClr val="007033"/>
                </a:solidFill>
                <a:latin typeface="Arial"/>
              </a:rPr>
              <a:t>12.6 pp menos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que el sistema especializado.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375" y="3300000"/>
            <a:ext cx="8513250" cy="1450000"/>
          </a:xfrm>
          <a:prstGeom prst="roundRect">
            <a:avLst>
              <a:gd name="adj" fmla="val 10000"/>
            </a:avLst>
          </a:prstGeom>
          <a:solidFill>
            <a:srgbClr val="E9F7E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75" rIns="68575" tIns="45700" bIns="45700"/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007033"/>
                </a:solidFill>
                <a:latin typeface="Arial"/>
              </a:rPr>
              <a:t>Trabajo futuro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▪  Entrenar un reconocedor basado en transformers (TrOCR) con los pares campo–valor del propio dominio: ~43 por acta, ≈43,000 con 1,000 actas.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▪  Entrenar detectores de campos (YOLOv11, RT-DETR) con etiquetas generadas automáticamente por la plantilla alineada.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▪  Comparar el proceso por etapas con métodos integrales (OmniParser, Donut) y usar el LLM como apoyo para etiquetas iniciales revisadas por una persona.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47150"/>
            <a:ext cx="8513250" cy="5646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r>
              <a:rPr sz="2400" b="1" i="0">
                <a:solidFill>
                  <a:srgbClr val="00B050"/>
                </a:solidFill>
                <a:latin typeface="Arial"/>
              </a:rPr>
              <a:t>Entregables y enlaces del proyecto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5375" y="740000"/>
            <a:ext cx="851325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15375" y="900000"/>
            <a:ext cx="851325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l"/>
            <a:r>
              <a:rPr sz="1250" b="1" i="0">
                <a:solidFill>
                  <a:srgbClr val="007033"/>
                </a:solidFill>
                <a:latin typeface="Arial"/>
              </a:rPr>
              <a:t>Repositorio del grupo:  </a:t>
            </a:r>
            <a:r>
              <a:rPr sz="1250" b="0" i="0">
                <a:solidFill>
                  <a:srgbClr val="1F4E79"/>
                </a:solidFill>
                <a:latin typeface="Arial"/>
                <a:hlinkClick r:id="rId2"/>
              </a:rPr>
              <a:t>github.com/kefencho/VC-EG-GRUPO3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375" y="1540000"/>
            <a:ext cx="851325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l"/>
            <a:r>
              <a:rPr sz="1250" b="1" i="0">
                <a:solidFill>
                  <a:srgbClr val="007033"/>
                </a:solidFill>
                <a:latin typeface="Arial"/>
              </a:rPr>
              <a:t>Paper (inglés):  </a:t>
            </a:r>
            <a:r>
              <a:rPr sz="1250" b="0" i="0">
                <a:solidFill>
                  <a:srgbClr val="1F4E79"/>
                </a:solidFill>
                <a:latin typeface="Arial"/>
                <a:hlinkClick r:id="rId3"/>
              </a:rPr>
              <a:t>…/paper/main_en.pdf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375" y="2180000"/>
            <a:ext cx="851325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l"/>
            <a:r>
              <a:rPr sz="1250" b="1" i="0">
                <a:solidFill>
                  <a:srgbClr val="007033"/>
                </a:solidFill>
                <a:latin typeface="Arial"/>
              </a:rPr>
              <a:t>Paper (español):  </a:t>
            </a:r>
            <a:r>
              <a:rPr sz="1250" b="0" i="0">
                <a:solidFill>
                  <a:srgbClr val="1F4E79"/>
                </a:solidFill>
                <a:latin typeface="Arial"/>
                <a:hlinkClick r:id="rId4"/>
              </a:rPr>
              <a:t>…/paper/main_es.pdf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375" y="2820000"/>
            <a:ext cx="851325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l"/>
            <a:r>
              <a:rPr sz="1250" b="1" i="0">
                <a:solidFill>
                  <a:srgbClr val="007033"/>
                </a:solidFill>
                <a:latin typeface="Arial"/>
              </a:rPr>
              <a:t>Póster:  </a:t>
            </a:r>
            <a:r>
              <a:rPr sz="1250" b="0" i="0">
                <a:solidFill>
                  <a:srgbClr val="1F4E79"/>
                </a:solidFill>
                <a:latin typeface="Arial"/>
                <a:hlinkClick r:id="rId5"/>
              </a:rPr>
              <a:t>…/poster/Poster_ONPE_2026_Grupo03.pdf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375" y="3460000"/>
            <a:ext cx="8513250" cy="5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75" rIns="68575" tIns="45700" bIns="45700"/>
          <a:lstStyle/>
          <a:p>
            <a:pPr algn="l"/>
            <a:r>
              <a:rPr sz="1250" b="1" i="0">
                <a:solidFill>
                  <a:srgbClr val="007033"/>
                </a:solidFill>
                <a:latin typeface="Arial"/>
              </a:rPr>
              <a:t>Código original del pipeline:  </a:t>
            </a:r>
            <a:r>
              <a:rPr sz="1250" b="0" i="0">
                <a:solidFill>
                  <a:srgbClr val="1F4E79"/>
                </a:solidFill>
                <a:latin typeface="Arial"/>
                <a:hlinkClick r:id="rId6"/>
              </a:rPr>
              <a:t>github.com/carlosperez100/onpe_actas</a:t>
            </a:r>
          </a:p>
        </p:txBody>
      </p:sp>
      <p:pic>
        <p:nvPicPr>
          <p:cNvPr id="9" name="Picture 8" descr="qr_rep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625" y="4030000"/>
            <a:ext cx="850000" cy="8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8625" y="4880000"/>
            <a:ext cx="1700000" cy="23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QR → onpe_actas (código)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375" y="4150000"/>
            <a:ext cx="5800000" cy="7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Ejecución reproducible: EJECUTAR - EASYOCR.bat  /  EJECUTAR - LLM.bat</a:t>
            </a:r>
          </a:p>
          <a:p>
            <a:pPr marL="0" indent="0">
              <a:lnSpc>
                <a:spcPct val="115000"/>
              </a:lnSpc>
              <a:spcAft>
                <a:spcPts val="300"/>
              </a:spcAft>
            </a:pPr>
            <a:r>
              <a:rPr sz="1150" b="0" i="0">
                <a:solidFill>
                  <a:srgbClr val="262626"/>
                </a:solidFill>
                <a:latin typeface="Arial"/>
              </a:rPr>
              <a:t>Muestreo con semilla pública 2026 · resultados por campo y por acta versionados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5375" y="1700000"/>
            <a:ext cx="8513250" cy="900000"/>
          </a:xfrm>
          <a:prstGeom prst="rect">
            <a:avLst/>
          </a:prstGeom>
          <a:noFill/>
        </p:spPr>
        <p:txBody>
          <a:bodyPr wrap="square" anchor="ctr" lIns="45700" rIns="45700" tIns="22850" bIns="22850">
            <a:spAutoFit/>
          </a:bodyPr>
          <a:lstStyle/>
          <a:p>
            <a:pPr algn="ctr"/>
            <a:r>
              <a:rPr sz="4000" b="1" i="0">
                <a:solidFill>
                  <a:srgbClr val="00B050"/>
                </a:solidFill>
                <a:latin typeface="Arial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375" y="2600000"/>
            <a:ext cx="8513250" cy="1200000"/>
          </a:xfrm>
          <a:prstGeom prst="rect">
            <a:avLst/>
          </a:prstGeom>
          <a:noFill/>
        </p:spPr>
        <p:txBody>
          <a:bodyPr wrap="square" anchor="t" lIns="45700" rIns="45700" tIns="22850" bIns="2285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Extracción automática de resultados electorales a partir de actas de escrutinio de las Elecciones Generales del Perú 2026</a:t>
            </a:r>
          </a:p>
          <a:p>
            <a:pPr algn="ctr">
              <a:spcAft>
                <a:spcPts val="10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Grupo 3 · Sección B · 2026-1</a:t>
            </a:r>
          </a:p>
          <a:p>
            <a:pPr algn="ctr">
              <a:spcAft>
                <a:spcPts val="1000"/>
              </a:spcAft>
            </a:pPr>
            <a:r>
              <a:rPr sz="1250" b="0" i="0">
                <a:solidFill>
                  <a:srgbClr val="595959"/>
                </a:solidFill>
                <a:latin typeface="Arial"/>
              </a:rPr>
              <a:t>Josemanuel Cañari · Kenny Asto · Melissa Aylas · Carlos Pérez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00000" y="2450000"/>
            <a:ext cx="4144000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